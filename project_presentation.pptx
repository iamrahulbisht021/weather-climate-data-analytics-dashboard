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Gelasio" panose="020B0604020202020204" charset="0"/>
      <p:regular r:id="rId9"/>
    </p:embeddedFont>
    <p:embeddedFont>
      <p:font typeface="Lato" panose="020F0502020204030204" pitchFamily="34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42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084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910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9663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300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287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1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4201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453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82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512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2868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785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662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461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958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291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74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8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00834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Weather &amp; Climate Data Analytics Dashboard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37660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Using Power BI for Big Data Visualization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440793"/>
            <a:ext cx="7556421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476952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Student: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Rahul Bisht · Enrollment Number: 992509260002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Big Data &amp; Data Visualization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Institute: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Jaypee Institute of Information Technology, Noida ·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Year: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2025–2026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93" y="587097"/>
            <a:ext cx="5291495" cy="7055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8" y="559475"/>
            <a:ext cx="6979801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 &amp; Objectives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2228" y="1419820"/>
            <a:ext cx="77795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Weather data is vast, complex, and difficult to interpret in its raw form — it demands structured transformation into meaningful, actionable insights.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2228" y="2188012"/>
            <a:ext cx="7779544" cy="1389936"/>
          </a:xfrm>
          <a:prstGeom prst="roundRect">
            <a:avLst>
              <a:gd name="adj" fmla="val 589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4753" y="2390537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ETL Pipeline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4753" y="2795588"/>
            <a:ext cx="737449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 robust Python-based pipeline to extract, transform, and load large-scale weather data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2228" y="3745349"/>
            <a:ext cx="7779544" cy="1389936"/>
          </a:xfrm>
          <a:prstGeom prst="roundRect">
            <a:avLst>
              <a:gd name="adj" fmla="val 589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4753" y="394787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Analysis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84753" y="4352925"/>
            <a:ext cx="737449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Analyze multi-year, multi-city weather datasets to uncover hidden patterns and anomalies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2228" y="5302687"/>
            <a:ext cx="7779544" cy="1100018"/>
          </a:xfrm>
          <a:prstGeom prst="roundRect">
            <a:avLst>
              <a:gd name="adj" fmla="val 744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4753" y="550521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4753" y="5910263"/>
            <a:ext cx="737449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an interactive, visual dashboard for intuitive exploration and reporting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2228" y="6570107"/>
            <a:ext cx="7779544" cy="1100018"/>
          </a:xfrm>
          <a:prstGeom prst="roundRect">
            <a:avLst>
              <a:gd name="adj" fmla="val 744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4753" y="677263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Trend Identification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84753" y="7177683"/>
            <a:ext cx="737449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seasonal trends, extreme events, and regional climate differences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117"/>
            <a:ext cx="73502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Pipeline &amp; Methodology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46208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2946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2875836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Open-Meteo API · 2015–2024 · 50 global cities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465552"/>
            <a:ext cx="30106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Big Data Characteristics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4046696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Volume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Velocity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Variety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59981" y="4636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ETL Process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59981" y="50814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Model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59981" y="566261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 Schema with Fact and Dimension tables for optimized querying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772989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0906" y="676167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Extract: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Automated API data collection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6772989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73008" y="676167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Data cleaning + feature engineering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6772989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415111" y="676167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CSV export → Power BI import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1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2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interactive pages enable layered exploration — from global KPIs down to city-level comparisons.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70609"/>
            <a:ext cx="2411968" cy="1490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44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3517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KPIs, world map view, and temperature trend charts at a glance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70609"/>
            <a:ext cx="2411968" cy="1490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744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Weather Deep Dive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23517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Detailed seasonal patterns, daily variation, and anomaly analysis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70609"/>
            <a:ext cx="2411968" cy="1490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744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City Insights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23517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Cross-city comparisons with slicers, filters, and drill-through navigation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6216134"/>
            <a:ext cx="13042821" cy="823198"/>
          </a:xfrm>
          <a:prstGeom prst="roundRect">
            <a:avLst>
              <a:gd name="adj" fmla="val 1157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1410" y="6223754"/>
            <a:ext cx="4342448" cy="807958"/>
          </a:xfrm>
          <a:prstGeom prst="roundRect">
            <a:avLst>
              <a:gd name="adj" fmla="val 11791"/>
            </a:avLst>
          </a:prstGeom>
          <a:solidFill>
            <a:srgbClr val="E8E8E3"/>
          </a:solidFill>
          <a:ln/>
        </p:spPr>
      </p:sp>
      <p:sp>
        <p:nvSpPr>
          <p:cNvPr id="15" name="Text 10"/>
          <p:cNvSpPr/>
          <p:nvPr/>
        </p:nvSpPr>
        <p:spPr>
          <a:xfrm>
            <a:off x="1028224" y="6450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Slicers &amp; Filters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143857" y="6223754"/>
            <a:ext cx="4342567" cy="807958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7" name="Shape 12"/>
          <p:cNvSpPr/>
          <p:nvPr/>
        </p:nvSpPr>
        <p:spPr>
          <a:xfrm>
            <a:off x="5143857" y="6223754"/>
            <a:ext cx="30480" cy="807958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18" name="Text 13"/>
          <p:cNvSpPr/>
          <p:nvPr/>
        </p:nvSpPr>
        <p:spPr>
          <a:xfrm>
            <a:off x="5370671" y="6450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Cross-Filtering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486424" y="6223754"/>
            <a:ext cx="4342567" cy="807958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20" name="Shape 15"/>
          <p:cNvSpPr/>
          <p:nvPr/>
        </p:nvSpPr>
        <p:spPr>
          <a:xfrm>
            <a:off x="9486424" y="6223754"/>
            <a:ext cx="30480" cy="807958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21" name="Text 16"/>
          <p:cNvSpPr/>
          <p:nvPr/>
        </p:nvSpPr>
        <p:spPr>
          <a:xfrm>
            <a:off x="9713238" y="6450568"/>
            <a:ext cx="3201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Drill-Through Navigation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551617"/>
            <a:ext cx="5344597" cy="7126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533" y="405884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&amp; Insights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982533" y="1052632"/>
            <a:ext cx="815173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+0.18°C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9152811" y="1657707"/>
            <a:ext cx="18111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Warming Trend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82533" y="1932265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Observed temperature increase across the decade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2533" y="2364581"/>
            <a:ext cx="815173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~1.1%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9172337" y="296965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Extreme Events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82533" y="3244215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records flagged as extreme weather anomalies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2533" y="3676531"/>
            <a:ext cx="815173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</a:t>
            </a:r>
            <a:endParaRPr lang="en-US" sz="3650" dirty="0"/>
          </a:p>
        </p:txBody>
      </p:sp>
      <p:sp>
        <p:nvSpPr>
          <p:cNvPr id="12" name="Text 9"/>
          <p:cNvSpPr/>
          <p:nvPr/>
        </p:nvSpPr>
        <p:spPr>
          <a:xfrm>
            <a:off x="9172337" y="428160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Cities Analyzed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982533" y="4556165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Spanning diverse climate zones worldwide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2533" y="4988481"/>
            <a:ext cx="815173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</a:t>
            </a:r>
            <a:endParaRPr lang="en-US" sz="3650" dirty="0"/>
          </a:p>
        </p:txBody>
      </p:sp>
      <p:sp>
        <p:nvSpPr>
          <p:cNvPr id="15" name="Text 12"/>
          <p:cNvSpPr/>
          <p:nvPr/>
        </p:nvSpPr>
        <p:spPr>
          <a:xfrm>
            <a:off x="9172337" y="5593556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Years of Data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982533" y="5868114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records from 2015 to 2024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2533" y="6152078"/>
            <a:ext cx="8151733" cy="498157"/>
          </a:xfrm>
          <a:prstGeom prst="roundRect">
            <a:avLst>
              <a:gd name="adj" fmla="val 14685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67293" y="6152078"/>
            <a:ext cx="60960" cy="498157"/>
          </a:xfrm>
          <a:prstGeom prst="roundRect">
            <a:avLst>
              <a:gd name="adj" fmla="val 97674"/>
            </a:avLst>
          </a:prstGeom>
          <a:solidFill>
            <a:srgbClr val="E5E5E0"/>
          </a:solidFill>
          <a:ln/>
        </p:spPr>
      </p:sp>
      <p:sp>
        <p:nvSpPr>
          <p:cNvPr id="19" name="Text 16"/>
          <p:cNvSpPr/>
          <p:nvPr/>
        </p:nvSpPr>
        <p:spPr>
          <a:xfrm>
            <a:off x="6185178" y="6309003"/>
            <a:ext cx="779216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Strong </a:t>
            </a: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seasonal and daily temperature variation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detected across mid-latitude cities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2533" y="6738818"/>
            <a:ext cx="8151733" cy="498157"/>
          </a:xfrm>
          <a:prstGeom prst="roundRect">
            <a:avLst>
              <a:gd name="adj" fmla="val 14685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67293" y="6738818"/>
            <a:ext cx="60960" cy="498157"/>
          </a:xfrm>
          <a:prstGeom prst="roundRect">
            <a:avLst>
              <a:gd name="adj" fmla="val 97674"/>
            </a:avLst>
          </a:prstGeom>
          <a:solidFill>
            <a:srgbClr val="E5E5E0"/>
          </a:solidFill>
          <a:ln/>
        </p:spPr>
      </p:sp>
      <p:sp>
        <p:nvSpPr>
          <p:cNvPr id="22" name="Text 19"/>
          <p:cNvSpPr/>
          <p:nvPr/>
        </p:nvSpPr>
        <p:spPr>
          <a:xfrm>
            <a:off x="6185178" y="6895743"/>
            <a:ext cx="779216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Tropical cities exhibit </a:t>
            </a: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stable temperature patterns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minimal fluctuation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2533" y="7325558"/>
            <a:ext cx="8151733" cy="498157"/>
          </a:xfrm>
          <a:prstGeom prst="roundRect">
            <a:avLst>
              <a:gd name="adj" fmla="val 14685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67293" y="7325558"/>
            <a:ext cx="60960" cy="498157"/>
          </a:xfrm>
          <a:prstGeom prst="roundRect">
            <a:avLst>
              <a:gd name="adj" fmla="val 97674"/>
            </a:avLst>
          </a:prstGeom>
          <a:solidFill>
            <a:srgbClr val="E5E5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85178" y="7482483"/>
            <a:ext cx="779216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</a:t>
            </a: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climate differences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visible across geographic regions and zones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57939"/>
            <a:ext cx="6363772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Scope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591264" y="1621393"/>
            <a:ext cx="6617613" cy="5950148"/>
          </a:xfrm>
          <a:prstGeom prst="roundRect">
            <a:avLst>
              <a:gd name="adj" fmla="val 2573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3910" y="182070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 Achieved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803910" y="2377202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622" y="24170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81614" y="2446258"/>
            <a:ext cx="551461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an end-to-end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Big Data pipeline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using Python ETL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3910" y="3254216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3622" y="329410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81614" y="3323273"/>
            <a:ext cx="551461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Transformed raw weather data into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actionable insights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3910" y="4131231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622" y="417111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481614" y="4200287"/>
            <a:ext cx="551461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Demonstrated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real-world climate analytics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2138" y="182070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Enhancements</a:t>
            </a:r>
            <a:endParaRPr lang="en-US" sz="20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2138" y="2377202"/>
            <a:ext cx="531614" cy="5316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62950" y="237720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Integration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362950" y="2908816"/>
            <a:ext cx="553081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API feeds for up-to-the-minute weather monitoring</a:t>
            </a:r>
            <a:endParaRPr lang="en-US" sz="16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2138" y="3637002"/>
            <a:ext cx="531614" cy="53161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62950" y="363700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Predictions</a:t>
            </a:r>
            <a:endParaRPr lang="en-US" sz="2050" dirty="0"/>
          </a:p>
        </p:txBody>
      </p:sp>
      <p:sp>
        <p:nvSpPr>
          <p:cNvPr id="20" name="Text 16"/>
          <p:cNvSpPr/>
          <p:nvPr/>
        </p:nvSpPr>
        <p:spPr>
          <a:xfrm>
            <a:off x="8362950" y="4168616"/>
            <a:ext cx="5530810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Forecast models for temperature and extreme event prediction</a:t>
            </a:r>
            <a:endParaRPr lang="en-US" sz="16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2138" y="5226368"/>
            <a:ext cx="531614" cy="5316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2950" y="52263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Deployment</a:t>
            </a:r>
            <a:endParaRPr lang="en-US" sz="2050" dirty="0"/>
          </a:p>
        </p:txBody>
      </p:sp>
      <p:sp>
        <p:nvSpPr>
          <p:cNvPr id="23" name="Text 18"/>
          <p:cNvSpPr/>
          <p:nvPr/>
        </p:nvSpPr>
        <p:spPr>
          <a:xfrm>
            <a:off x="8362950" y="5757982"/>
            <a:ext cx="553081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hosting on Azure or AWS for broader access</a:t>
            </a:r>
            <a:endParaRPr lang="en-US" sz="16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2138" y="6486168"/>
            <a:ext cx="531614" cy="53161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62950" y="64861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City Expansion</a:t>
            </a:r>
            <a:endParaRPr lang="en-US" sz="2050" dirty="0"/>
          </a:p>
        </p:txBody>
      </p:sp>
      <p:sp>
        <p:nvSpPr>
          <p:cNvPr id="26" name="Text 20"/>
          <p:cNvSpPr/>
          <p:nvPr/>
        </p:nvSpPr>
        <p:spPr>
          <a:xfrm>
            <a:off x="8362950" y="7017782"/>
            <a:ext cx="553081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 coverage to hundreds of cities globally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405</Words>
  <Application>Microsoft Office PowerPoint</Application>
  <PresentationFormat>Custom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Gelasio</vt:lpstr>
      <vt:lpstr>Arial</vt:lpstr>
      <vt:lpstr>Lato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Rahul Bisht</cp:lastModifiedBy>
  <cp:revision>2</cp:revision>
  <dcterms:created xsi:type="dcterms:W3CDTF">2026-05-04T04:29:47Z</dcterms:created>
  <dcterms:modified xsi:type="dcterms:W3CDTF">2026-05-04T04:32:05Z</dcterms:modified>
</cp:coreProperties>
</file>